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</p:sldMasterIdLst>
  <p:sldIdLst>
    <p:sldId id="256" r:id="rId4"/>
    <p:sldId id="261" r:id="rId5"/>
    <p:sldId id="257" r:id="rId6"/>
    <p:sldId id="262" r:id="rId7"/>
    <p:sldId id="258" r:id="rId8"/>
    <p:sldId id="263" r:id="rId9"/>
    <p:sldId id="259" r:id="rId10"/>
    <p:sldId id="264" r:id="rId11"/>
    <p:sldId id="260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88F"/>
    <a:srgbClr val="33B458"/>
    <a:srgbClr val="00A69C"/>
    <a:srgbClr val="000000"/>
    <a:srgbClr val="1B75BB"/>
    <a:srgbClr val="155D93"/>
    <a:srgbClr val="114C79"/>
    <a:srgbClr val="029FCA"/>
    <a:srgbClr val="0483A0"/>
    <a:srgbClr val="00B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66B0D-8E03-4111-8E8C-E0A053C0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FBE6F9-6970-4460-9497-877FE23C3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151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DC40C-166F-4C56-9AF7-6F8DD196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76683-4E29-4BE5-A26C-2A227C88B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2752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4591E-B249-4737-B5F7-6F8879E7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E9E67B-8C4C-4EF8-850C-BA7E6320F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0213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DB8EF-659A-4A53-BAA1-CCF600B3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369B3A-14CB-41CB-9341-AEBC0A5B1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3347CB-034A-4BEB-B80A-5C380C22B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3739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B0D75-10C5-449E-B883-9B8FAD58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1F65F8-FB3B-40AA-8806-50800C4AC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C78EB3-B251-4626-B002-CF30C76A2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4FAC88-B911-4EF6-823C-BA85A1C74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8C249D-4FD9-44C1-9A43-537BD5D59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8102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6047C-8D58-4BBD-972F-C9EF167C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59189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9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1958-6A4D-4182-B828-E7828F77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D9554-5F1D-4D3F-A587-990A7753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9C8B3C-AFFE-4D41-99F4-B59B76ECF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08109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3A601-571A-4E71-A030-79CF422C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84B8AB-687C-42B8-AE42-F97E381AF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EF1816-3109-40C1-8939-2158E9A88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0329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1034E-4F8D-4380-B6CB-A398D431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095A70-4243-4114-B203-0CC1FC37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692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2A9C88-4B88-4E5B-AF3C-8CC132C91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058A0C-EBA6-4A93-B0AB-6A003DCE8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2330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4DE6C-ECE2-4D68-A59D-02538947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9698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99A8-9A91-4419-8AE0-3BECAF0EA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CE7AA1-52C1-4813-B1E9-8814BBEFF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A245EE-9D35-4E74-BBD7-6026ACC5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6F2DC-5891-446E-9660-53CFEFBE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E70CF8-B16C-4A40-A897-5613F8C5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988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C1746-F5B8-4D17-BD44-F2623B1E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253F6-E859-41D7-9A07-5D926BE1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E2C5D9-D198-46AE-B069-34BD9248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2716B-AC27-4F16-A7B0-86AA7A7F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49CD15-B5D4-45FB-8D97-F0833F6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99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A1229-5E97-41EB-9243-7A849E645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69377C-1D31-41F4-B957-FEF93E19B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97D54-41B9-4FB6-88C3-FA099106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7BC1F-FD8C-4171-919E-D660F0E9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94543-A7EF-4429-B4C3-F135FAF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315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2E6D5-4780-4EE6-84BF-452C0A98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484BCA-BD4D-4A05-A1AF-2C1C2C213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F7E6ED-CC9A-435E-B7BE-D22F8AF95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C71F3B-DB65-4F74-902E-AFE83DBA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2F5511-EE44-4D2E-B8FA-C2C3CBFC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EA1F8E-2C49-4DCD-AF62-2656E395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28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90E72-6256-4AB1-8AAD-24CCA587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5A88E6-505F-4164-B1F1-5EA61CCA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151FAE-9FC4-492E-9DC0-171B331A3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E199D7-FB61-407A-8479-6D163226F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7C1E4E-C7CB-4978-94A7-EFEA870AF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DBCC7D-B071-45E0-BD8B-B8AD8B2B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4876004-207C-4566-AC53-DD11DE3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2094E7-D7E1-4782-AAA8-DA3B709D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00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618F-0EF3-410D-957B-7D8DBB1D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9D30ED-56CD-4796-A62B-0BFC5712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AD5A1A-B13F-4144-B6C1-E01C20E8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2B37F9-D867-49B8-93F5-CE635DA7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079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B72084-5F60-4B30-AD0F-DE7771FD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39BCD8-66B7-48B5-88B5-D9E4E81B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1B6340-7AC6-4EA2-BCF8-775CBAC0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264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7A13F-FFA1-46DA-84B0-D22BEB76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107E1F-D595-4DCB-9007-529D79404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71C074-62EF-4CB9-A298-A235C5492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41C3E4-05AC-4F79-9547-7F77EB2D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6A0519-E556-4251-8705-0E3C50BB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DC8E0D-FD2C-47F3-837C-2CF7A73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493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5A792-12D1-4352-8E7F-02B43EF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3B1671-39A8-47E9-800E-B9E14C4D2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A9C491-6C05-46DA-A0AB-1724C9E5A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A462DD-DFF5-45BC-914F-1ACC5486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DA2264-DE24-4255-AF9B-C7D25556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BE1478-2270-485E-81BC-3C868C8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328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5CAA5-CCF4-42A3-B9E7-AD229406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9B5767-1C24-4C76-A28E-A31463301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5D84F7-7A28-4670-BF4E-7524A43B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216E9-051F-4E19-B449-BC691177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F5AA8D-5995-490E-BBE2-05D0050A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902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95275E-E49D-41F1-AF0B-3DCA51A34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4B4535-30A1-46EA-A284-0208F06A2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07F70-6A1E-4FEE-8F7E-33FF5F44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8FA57-C8F4-48CC-BA8D-BC4AF972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55B8FB-A400-4E5E-B2C9-052638DA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406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B82A0-1C22-4F54-AE77-A238057AE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781743-E82B-4099-B48A-1193C5BDD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E69ACA-445E-4CFD-B303-FAD779DA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F273E4-9992-4141-867A-0D4387F0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D9F905-D64E-4425-B780-AB59CF9D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241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C7983-CA27-4FEE-A9DC-4C1E5D54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1177A4-87D9-4C72-A35D-D4039AEA7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F9CF38-A2EB-481A-9A39-ABDDACD2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E14464-1FFB-4990-AEBF-846983F5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25DDCB-16FF-4EFB-B9B7-15807EE4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8501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5B1CF-8860-4E16-9432-DA0093B9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947416-511C-4CA4-982B-EF472527E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C849D-317D-4CCC-8EAA-C8BFC8EA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E3646-7C1E-4470-B7B1-A9DB0F46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3E932A-2BCA-4E0C-9550-148BB1E2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8A06-9C6C-4671-AAB8-D7730D35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B56EED-3428-4B96-AEB6-0B1EFDEF6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D48C56-6601-4524-8A69-AE817B112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5D1FBE-1BC5-4217-AB13-FC29C1BA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0821B1-C6D2-4754-B6ED-38983B90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DBE649-0EAA-476B-811B-F02E1AA9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654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8A353-82E9-40B0-B1B3-B465F90F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F80D04-9E19-410C-9603-D9453E9E7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82330D-2DFB-48FB-AE2B-25F3FB67A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E420B7-42E2-4AF4-80CD-B20A121E9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7350E1-8D7B-4066-8683-87A5B9E2F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E74092-7379-4B42-83AB-B3E51DEB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56CB8-4C0A-4F5C-9D6E-BA9B0A4A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11B0F5-5A12-40CA-97D1-05F5FBC1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912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9F0BF-9CB9-4223-8736-6C15E848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EFC2A4-D49E-4538-92C1-244B3C96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B294E5-92D8-4FEF-9B40-5D3058D6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15BBDA-3C74-4DC2-A3F9-0429EBC9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6279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F839A9-5882-478F-8278-B180AEF4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C6232F-FA26-4B8A-8235-CE45D56C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0EAE8A-944D-47F4-A1F4-BB9C5444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634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4F116-269E-4FCF-AB89-230CCFA8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91B26-94C8-4133-8860-A84C860A9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724F41-6A2F-4F70-BA4F-56EAC5CC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E9A85-5449-4A47-94D9-BF51935B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E7963-6AB5-4061-83A2-64D5A74A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6E819F-3B43-44A0-A19A-89DDA19A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478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7748B-87FC-455E-816A-CD34AD27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C43788-984D-4E20-8FAE-448A777A4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89EC03-8E37-4E33-AB63-ABFBF944D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F211D0-FF6A-431D-9BA1-27508A15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3DC2B1-EBE5-4CB5-A1B4-A93A5549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FC35B-8DF8-489E-B32B-240E5698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503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FCEA2-9FD9-44F8-BA2F-383BFA6E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4C513D-DEF4-4373-AF58-66C9FC5D8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336DD6-C210-4657-ADAC-15C1182B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CFC99A-3950-4B6A-9609-A9472453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A3EAF4-A160-4379-9543-1D0FB6C9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360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5E8D63-FA2A-4B2D-9679-0CDEE279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F0D8A4-4770-40C4-9B1B-A9F3006E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A54BC2-6C8A-4DAD-AC5C-DB428A5E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071D6-44A2-416B-94E5-4EA72325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C2B40-3989-4796-9A74-E7C5DC9D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05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1BC1FD-1487-403E-96A8-EB261606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2" y="365125"/>
            <a:ext cx="78939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9B7194-8B90-415F-9992-C7C361A7D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9892" y="1825625"/>
            <a:ext cx="78939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6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Circular Std Black" panose="020B0A04020101010102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ircular Std Medium" panose="020B0604020101010102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4367F7-3328-4A06-AAE7-1E221D36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B8C9D4-6D76-4ABD-B6C8-4A0EE68B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17E70A-62B6-4690-9440-196A8E4A0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B080F-126B-4C40-8493-979CF4E35B3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C5439E-7D5F-459D-93C7-EF6141655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A8EB9-8E5E-4E55-9EAA-5C09C743A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D589B-CDDE-40E1-9303-11956A4111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57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894E94-5BFD-453E-995B-D702D2B6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6663BB-75B6-427A-B04B-B0990B240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0FF863-1441-4239-902F-E4363C345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BD666-A697-4156-91FF-DAAB2B063E6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8CDD5-5ACD-497E-9B5C-E0EE74D10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5FF36E-365E-41AF-B793-D396ECFBA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4A1EE-3334-409A-BFA3-7A03F118D6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37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m 84">
            <a:extLst>
              <a:ext uri="{FF2B5EF4-FFF2-40B4-BE49-F238E27FC236}">
                <a16:creationId xmlns:a16="http://schemas.microsoft.com/office/drawing/2014/main" id="{DA5D32FE-7A83-43CB-86EE-11062425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632" y="813853"/>
            <a:ext cx="4753098" cy="562923"/>
          </a:xfrm>
          <a:prstGeom prst="rect">
            <a:avLst/>
          </a:prstGeom>
        </p:spPr>
      </p:pic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D8E0333-61CE-4D40-933E-86BE121181BD}"/>
              </a:ext>
            </a:extLst>
          </p:cNvPr>
          <p:cNvSpPr/>
          <p:nvPr/>
        </p:nvSpPr>
        <p:spPr>
          <a:xfrm>
            <a:off x="2673005" y="4111352"/>
            <a:ext cx="1716391" cy="2056660"/>
          </a:xfrm>
          <a:prstGeom prst="roundRect">
            <a:avLst>
              <a:gd name="adj" fmla="val 7874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B75044A-4908-4934-B7AB-C2D84C256471}"/>
              </a:ext>
            </a:extLst>
          </p:cNvPr>
          <p:cNvSpPr/>
          <p:nvPr/>
        </p:nvSpPr>
        <p:spPr>
          <a:xfrm>
            <a:off x="769405" y="4111352"/>
            <a:ext cx="1716391" cy="2056660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15B2882-4651-417C-9D8D-79A2B7B21073}"/>
              </a:ext>
            </a:extLst>
          </p:cNvPr>
          <p:cNvSpPr/>
          <p:nvPr/>
        </p:nvSpPr>
        <p:spPr>
          <a:xfrm>
            <a:off x="2673005" y="1676841"/>
            <a:ext cx="1716391" cy="2056660"/>
          </a:xfrm>
          <a:prstGeom prst="roundRect">
            <a:avLst>
              <a:gd name="adj" fmla="val 8391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F559B82-FAD9-45DA-9256-2B136BFA4291}"/>
              </a:ext>
            </a:extLst>
          </p:cNvPr>
          <p:cNvSpPr/>
          <p:nvPr/>
        </p:nvSpPr>
        <p:spPr>
          <a:xfrm>
            <a:off x="769405" y="1676841"/>
            <a:ext cx="1716391" cy="2056660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CE6746D-3D6E-4F8E-9473-15EBD7648B39}"/>
              </a:ext>
            </a:extLst>
          </p:cNvPr>
          <p:cNvSpPr txBox="1"/>
          <p:nvPr/>
        </p:nvSpPr>
        <p:spPr>
          <a:xfrm>
            <a:off x="912639" y="2060944"/>
            <a:ext cx="15731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Moinho de bolas industrial com ~830k registros de 27 variáveis de processo. </a:t>
            </a:r>
            <a:r>
              <a:rPr lang="pt-BR" sz="1100" dirty="0" err="1">
                <a:solidFill>
                  <a:schemeClr val="bg1"/>
                </a:solidFill>
              </a:rPr>
              <a:t>Operação reativa, sem classificação automática de regimes operacionais.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3A228A5-4035-4E01-8F8D-8258A7C69298}"/>
              </a:ext>
            </a:extLst>
          </p:cNvPr>
          <p:cNvSpPr/>
          <p:nvPr/>
        </p:nvSpPr>
        <p:spPr>
          <a:xfrm>
            <a:off x="4576605" y="1676841"/>
            <a:ext cx="1716391" cy="2056660"/>
          </a:xfrm>
          <a:prstGeom prst="roundRect">
            <a:avLst>
              <a:gd name="adj" fmla="val 7874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612713F-86B6-4019-8811-F0B1C8592CC1}"/>
              </a:ext>
            </a:extLst>
          </p:cNvPr>
          <p:cNvSpPr/>
          <p:nvPr/>
        </p:nvSpPr>
        <p:spPr>
          <a:xfrm>
            <a:off x="4576605" y="4107728"/>
            <a:ext cx="1716391" cy="2056660"/>
          </a:xfrm>
          <a:prstGeom prst="roundRect">
            <a:avLst>
              <a:gd name="adj" fmla="val 6322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C1BE9E6-32F1-4909-9343-7DB2AC1BAFC5}"/>
              </a:ext>
            </a:extLst>
          </p:cNvPr>
          <p:cNvSpPr/>
          <p:nvPr/>
        </p:nvSpPr>
        <p:spPr>
          <a:xfrm>
            <a:off x="6477025" y="1676840"/>
            <a:ext cx="1716391" cy="4487547"/>
          </a:xfrm>
          <a:prstGeom prst="roundRect">
            <a:avLst>
              <a:gd name="adj" fmla="val 684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53CA9B4-F23E-4636-8519-90977B7B0348}"/>
              </a:ext>
            </a:extLst>
          </p:cNvPr>
          <p:cNvSpPr txBox="1"/>
          <p:nvPr/>
        </p:nvSpPr>
        <p:spPr>
          <a:xfrm>
            <a:off x="2751189" y="2060944"/>
            <a:ext cx="15731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Operadores de sala de controle (monitoram e ajustam parâmetros em tempo real) e engenheiros de processo (analisam eficiência e propõem melhorias).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F15917F-B385-4BB0-9FE0-46218A585E45}"/>
              </a:ext>
            </a:extLst>
          </p:cNvPr>
          <p:cNvSpPr txBox="1"/>
          <p:nvPr/>
        </p:nvSpPr>
        <p:spPr>
          <a:xfrm>
            <a:off x="4573425" y="2056495"/>
            <a:ext cx="17613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Premissas: dados PI disponíveis e classes de dureza válidas como rótulos. </a:t>
            </a:r>
          </a:p>
          <a:p>
            <a:r>
              <a:rPr lang="pt-BR" sz="1100" dirty="0">
                <a:solidFill>
                  <a:schemeClr val="bg1"/>
                </a:solidFill>
              </a:rPr>
              <a:t>Restrições: dados industriais tendem a ser ruidosos em função dos processos.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DAD4175-C46E-4F9B-9BFA-C88E18AA3585}"/>
              </a:ext>
            </a:extLst>
          </p:cNvPr>
          <p:cNvSpPr txBox="1"/>
          <p:nvPr/>
        </p:nvSpPr>
        <p:spPr>
          <a:xfrm>
            <a:off x="734408" y="4511845"/>
            <a:ext cx="17140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</a:rPr>
              <a:t>Ganho de produtividade por operar próximo à capacidade real. Padronização entre turnos. Base para otimização em tempo real. Aproveitamento de dados subutilizados.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6212211-A58B-463A-86A3-9F0B9FC35144}"/>
              </a:ext>
            </a:extLst>
          </p:cNvPr>
          <p:cNvSpPr txBox="1"/>
          <p:nvPr/>
        </p:nvSpPr>
        <p:spPr>
          <a:xfrm>
            <a:off x="2664726" y="4464720"/>
            <a:ext cx="177114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</a:rPr>
              <a:t>H1: Existem regimes distintos identificáveis. H2: Correspondem às classes de dureza. H3: Classificador &gt;80% acurácia. H4: Subconjunto de features é suficiente. H5: Modelo estável no tempo.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3DA06B9-3AD8-498A-B44C-7FEAD8166F6C}"/>
              </a:ext>
            </a:extLst>
          </p:cNvPr>
          <p:cNvSpPr txBox="1"/>
          <p:nvPr/>
        </p:nvSpPr>
        <p:spPr>
          <a:xfrm>
            <a:off x="4648221" y="4502989"/>
            <a:ext cx="15731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Desenvolver um classificador de regimes operacionais com acurácia &gt;80% no conjunto de teste, utilizando dados reais de 19 meses.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6457D3ED-4436-4C19-9985-AD18B323A0FA}"/>
              </a:ext>
            </a:extLst>
          </p:cNvPr>
          <p:cNvSpPr/>
          <p:nvPr/>
        </p:nvSpPr>
        <p:spPr>
          <a:xfrm>
            <a:off x="8383805" y="1676840"/>
            <a:ext cx="3401795" cy="4487547"/>
          </a:xfrm>
          <a:prstGeom prst="roundRect">
            <a:avLst>
              <a:gd name="adj" fmla="val 439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94388C6-E483-4A24-B77A-277A9A236850}"/>
              </a:ext>
            </a:extLst>
          </p:cNvPr>
          <p:cNvSpPr/>
          <p:nvPr/>
        </p:nvSpPr>
        <p:spPr>
          <a:xfrm>
            <a:off x="8377446" y="3832860"/>
            <a:ext cx="3408154" cy="2331525"/>
          </a:xfrm>
          <a:prstGeom prst="roundRect">
            <a:avLst>
              <a:gd name="adj" fmla="val 7897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74D42F4-9D54-4D15-ABEB-477050901133}"/>
              </a:ext>
            </a:extLst>
          </p:cNvPr>
          <p:cNvSpPr/>
          <p:nvPr/>
        </p:nvSpPr>
        <p:spPr>
          <a:xfrm>
            <a:off x="10390276" y="4247908"/>
            <a:ext cx="1395324" cy="1916477"/>
          </a:xfrm>
          <a:prstGeom prst="roundRect">
            <a:avLst>
              <a:gd name="adj" fmla="val 4725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D7CD663-2A80-4190-9B85-76012D321598}"/>
              </a:ext>
            </a:extLst>
          </p:cNvPr>
          <p:cNvSpPr/>
          <p:nvPr/>
        </p:nvSpPr>
        <p:spPr>
          <a:xfrm>
            <a:off x="8377445" y="4247908"/>
            <a:ext cx="1395324" cy="1916477"/>
          </a:xfrm>
          <a:prstGeom prst="roundRect">
            <a:avLst>
              <a:gd name="adj" fmla="val 727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B97E4709-542A-4939-9685-AECDC7621634}"/>
              </a:ext>
            </a:extLst>
          </p:cNvPr>
          <p:cNvSpPr/>
          <p:nvPr/>
        </p:nvSpPr>
        <p:spPr>
          <a:xfrm>
            <a:off x="9380800" y="5779363"/>
            <a:ext cx="1395324" cy="385022"/>
          </a:xfrm>
          <a:prstGeom prst="roundRect">
            <a:avLst>
              <a:gd name="adj" fmla="val 7270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B2B06B9-C0E5-46C7-BE3F-5949B15ABD38}"/>
              </a:ext>
            </a:extLst>
          </p:cNvPr>
          <p:cNvSpPr txBox="1"/>
          <p:nvPr/>
        </p:nvSpPr>
        <p:spPr>
          <a:xfrm>
            <a:off x="6548641" y="2166754"/>
            <a:ext cx="157315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Sprint 1: Preparação dos dados + EDA + </a:t>
            </a:r>
            <a:r>
              <a:rPr lang="pt-BR" sz="1100" dirty="0" err="1">
                <a:solidFill>
                  <a:schemeClr val="bg1"/>
                </a:solidFill>
              </a:rPr>
              <a:t>Clustering</a:t>
            </a:r>
            <a:r>
              <a:rPr lang="pt-BR" sz="1100" dirty="0">
                <a:solidFill>
                  <a:schemeClr val="bg1"/>
                </a:solidFill>
              </a:rPr>
              <a:t>. 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Sprint 2: Rotulagem dos dados com base em sistema de</a:t>
            </a:r>
          </a:p>
          <a:p>
            <a:r>
              <a:rPr lang="pt-BR" sz="1100" dirty="0">
                <a:solidFill>
                  <a:schemeClr val="bg1"/>
                </a:solidFill>
              </a:rPr>
              <a:t>  classificação de dureza + Classificador supervisionado. 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Sprint 3: Validação cruzada + Resultados.</a:t>
            </a:r>
            <a:endParaRPr lang="pt-BR" sz="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3711FCA-BDFA-43C6-9081-F9FB9C1AE381}"/>
              </a:ext>
            </a:extLst>
          </p:cNvPr>
          <p:cNvSpPr txBox="1"/>
          <p:nvPr/>
        </p:nvSpPr>
        <p:spPr>
          <a:xfrm>
            <a:off x="8545740" y="2128590"/>
            <a:ext cx="30654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Regimes operacionais identificados e caracterizados.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Classificador treinado e avaliado.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Análise SHAP das variáveis mais relevantes.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Recomendações operacionais por regime.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D73B4A4-FBE0-4BC7-88A4-6669C90296EB}"/>
              </a:ext>
            </a:extLst>
          </p:cNvPr>
          <p:cNvSpPr txBox="1"/>
          <p:nvPr/>
        </p:nvSpPr>
        <p:spPr>
          <a:xfrm>
            <a:off x="8338814" y="4671365"/>
            <a:ext cx="151102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</a:rPr>
              <a:t>Clustering</a:t>
            </a:r>
            <a:r>
              <a:rPr lang="pt-BR" sz="1100" dirty="0">
                <a:solidFill>
                  <a:schemeClr val="bg1"/>
                </a:solidFill>
              </a:rPr>
              <a:t> (K-</a:t>
            </a:r>
            <a:r>
              <a:rPr lang="pt-BR" sz="1100" dirty="0" err="1">
                <a:solidFill>
                  <a:schemeClr val="bg1"/>
                </a:solidFill>
              </a:rPr>
              <a:t>Means</a:t>
            </a:r>
            <a:r>
              <a:rPr lang="pt-BR" sz="1100" dirty="0">
                <a:solidFill>
                  <a:schemeClr val="bg1"/>
                </a:solidFill>
              </a:rPr>
              <a:t>, DBSCAN, GMM).</a:t>
            </a:r>
          </a:p>
          <a:p>
            <a:endParaRPr lang="pt-BR" sz="1100" dirty="0">
              <a:solidFill>
                <a:schemeClr val="bg1"/>
              </a:solidFill>
            </a:endParaRPr>
          </a:p>
          <a:p>
            <a:r>
              <a:rPr lang="pt-BR" sz="1100" dirty="0">
                <a:solidFill>
                  <a:schemeClr val="bg1"/>
                </a:solidFill>
              </a:rPr>
              <a:t>Classificação supervisionada (RF, </a:t>
            </a:r>
            <a:r>
              <a:rPr lang="pt-BR" sz="1100" dirty="0" err="1">
                <a:solidFill>
                  <a:schemeClr val="bg1"/>
                </a:solidFill>
              </a:rPr>
              <a:t>XGBoost</a:t>
            </a:r>
            <a:r>
              <a:rPr lang="pt-BR" sz="1100" dirty="0">
                <a:solidFill>
                  <a:schemeClr val="bg1"/>
                </a:solidFill>
              </a:rPr>
              <a:t>, </a:t>
            </a:r>
            <a:r>
              <a:rPr lang="pt-BR" sz="1100" dirty="0" err="1">
                <a:solidFill>
                  <a:schemeClr val="bg1"/>
                </a:solidFill>
              </a:rPr>
              <a:t>LightGBM</a:t>
            </a:r>
            <a:r>
              <a:rPr lang="pt-BR" sz="1100" dirty="0">
                <a:solidFill>
                  <a:schemeClr val="bg1"/>
                </a:solidFill>
              </a:rPr>
              <a:t>).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80E898D-6574-4E31-889C-6D5E122FAE7B}"/>
              </a:ext>
            </a:extLst>
          </p:cNvPr>
          <p:cNvSpPr txBox="1"/>
          <p:nvPr/>
        </p:nvSpPr>
        <p:spPr>
          <a:xfrm>
            <a:off x="8121798" y="811349"/>
            <a:ext cx="3784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Regimes Operacionais em Moagem Industrial / v1.0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D52A9A0-02AF-4C35-A72E-6F5D490F3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4" y="1792970"/>
            <a:ext cx="1512536" cy="443181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0D0E9FFB-7519-42C3-B97B-CD069F9B2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14" y="1807742"/>
            <a:ext cx="1323827" cy="248753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CB9125BF-1825-48AA-9920-71BD5B410C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4" y="4226870"/>
            <a:ext cx="1235189" cy="629032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E391F7B9-D037-4719-B0FF-44BF92E21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66" y="4341676"/>
            <a:ext cx="1258064" cy="397434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D8753963-2F24-4083-A48E-636F6C3CB6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716" y="4217735"/>
            <a:ext cx="1320967" cy="231598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84D09D62-CF0F-40FF-9E33-07F24A1843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582" y="1782008"/>
            <a:ext cx="1083651" cy="274487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25A883DE-F5C5-4907-9995-864A6700CA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625" y="4217735"/>
            <a:ext cx="954985" cy="277346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5BA916E2-2075-4950-987F-8039F8A983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584" y="1821724"/>
            <a:ext cx="1323827" cy="200146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513B43B9-79EF-4A94-A214-4634E69444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415" y="1799884"/>
            <a:ext cx="1904251" cy="646187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AC4CACD1-930D-43A6-9641-C2AD6D3E13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553" y="3928346"/>
            <a:ext cx="1289516" cy="263050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749326E4-4058-4E0B-A05D-5BF44CE707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718" y="4348921"/>
            <a:ext cx="1220894" cy="23159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CANVAS DO PROJETO APLICADO</a:t>
            </a:r>
          </a:p>
        </p:txBody>
      </p:sp>
    </p:spTree>
    <p:extLst>
      <p:ext uri="{BB962C8B-B14F-4D97-AF65-F5344CB8AC3E}">
        <p14:creationId xmlns:p14="http://schemas.microsoft.com/office/powerpoint/2010/main" val="36622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imagem é um slide de apresentação intitulado "CANVAS DO PROJETO APLICADO" com um layout organizado em várias seções coloridas, cada uma contendo um título e um bloco de texto. O fundo é preto e as seções são destacadas em diferentes cores.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Aqui está a descrição de cada seção: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"CANVAS DO PROJETO APLICADO" está localizado no topo esquerdo.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Abaixo do título, há uma seção cinza no canto superior direito para "Título/Versão" com um texto de exemplo em latim.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As seções coloridas são as seguintes (da esquerda para a direita, de cima para baixo):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"ANÁLISE DE CONTEXTO"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"PERSONAS"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"PREMISSAS E RESTRIÇÕES"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"BENEFÍCIOS E JUSTIFICATIVAS"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"HIPÓTESES"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verde com o título "OBJETIVO SMART"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azul claro com o título "BACKLOG"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Seção azul escuro com o título "ÁREA DE EXPERIMENTAÇÃO" contendo um bloco de texto em latim.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Dentro da seção "ÁREA DE EXPERIMENTAÇÃO", há subseções: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"RESULTADO" destacada em um tom mais escuro de azul.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"SOLUÇÃO" em azul claro.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"LIÇÕES APRENDIDAS" em azul escuro.</a:t>
            </a:r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Cada seção contém texto de exemplo em latim (</a:t>
            </a:r>
            <a:r>
              <a:rPr lang="pt-B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Ipsum), que é usado como preenchimento. O layout é projetado para organizar as informações do projeto de forma clara e estruturada.</a:t>
            </a:r>
          </a:p>
          <a:p>
            <a:endParaRPr lang="pt-B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43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BC7BC92D-346C-40EE-A500-5B60D7AE8949}"/>
              </a:ext>
            </a:extLst>
          </p:cNvPr>
          <p:cNvSpPr/>
          <p:nvPr/>
        </p:nvSpPr>
        <p:spPr>
          <a:xfrm>
            <a:off x="74347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6C079525-A416-458C-86B6-A2406C081790}"/>
              </a:ext>
            </a:extLst>
          </p:cNvPr>
          <p:cNvSpPr/>
          <p:nvPr/>
        </p:nvSpPr>
        <p:spPr>
          <a:xfrm>
            <a:off x="36209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6C5DE7A1-3E14-4A02-A87E-F9BBAD76FAE8}"/>
              </a:ext>
            </a:extLst>
          </p:cNvPr>
          <p:cNvSpPr/>
          <p:nvPr/>
        </p:nvSpPr>
        <p:spPr>
          <a:xfrm>
            <a:off x="334045" y="4763188"/>
            <a:ext cx="5487636" cy="1610459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8DBC8CC4-ACBA-4007-AA2C-7C9020D92B79}"/>
              </a:ext>
            </a:extLst>
          </p:cNvPr>
          <p:cNvSpPr/>
          <p:nvPr/>
        </p:nvSpPr>
        <p:spPr>
          <a:xfrm>
            <a:off x="6254425" y="4763188"/>
            <a:ext cx="5689600" cy="1610459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72813617-FCAE-4625-8094-372A6A7F93C3}"/>
              </a:ext>
            </a:extLst>
          </p:cNvPr>
          <p:cNvSpPr/>
          <p:nvPr/>
        </p:nvSpPr>
        <p:spPr>
          <a:xfrm>
            <a:off x="315139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7D055337-B16D-4F22-9BC7-53EF4106EBB1}"/>
              </a:ext>
            </a:extLst>
          </p:cNvPr>
          <p:cNvSpPr/>
          <p:nvPr/>
        </p:nvSpPr>
        <p:spPr>
          <a:xfrm>
            <a:off x="277001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DE34982-89EA-4FAC-9D0C-FC422090D6DB}"/>
              </a:ext>
            </a:extLst>
          </p:cNvPr>
          <p:cNvSpPr/>
          <p:nvPr/>
        </p:nvSpPr>
        <p:spPr>
          <a:xfrm>
            <a:off x="555931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24191FF0-A8D3-4ECD-9ABF-F071A9D57F58}"/>
              </a:ext>
            </a:extLst>
          </p:cNvPr>
          <p:cNvSpPr/>
          <p:nvPr/>
        </p:nvSpPr>
        <p:spPr>
          <a:xfrm>
            <a:off x="514988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E86D7308-DA6C-4D53-8CBF-3274D76B36D8}"/>
              </a:ext>
            </a:extLst>
          </p:cNvPr>
          <p:cNvSpPr/>
          <p:nvPr/>
        </p:nvSpPr>
        <p:spPr>
          <a:xfrm>
            <a:off x="790328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5128D25C-7759-41D7-A3B3-63B1C95CF46F}"/>
              </a:ext>
            </a:extLst>
          </p:cNvPr>
          <p:cNvSpPr/>
          <p:nvPr/>
        </p:nvSpPr>
        <p:spPr>
          <a:xfrm>
            <a:off x="7488028" y="216704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79630B7-A3C3-42E0-BF4D-EAFB99CA0AE5}"/>
              </a:ext>
            </a:extLst>
          </p:cNvPr>
          <p:cNvSpPr/>
          <p:nvPr/>
        </p:nvSpPr>
        <p:spPr>
          <a:xfrm>
            <a:off x="10247251" y="1656371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5C570A04-2CF8-40EB-8EE0-D00145737B3D}"/>
              </a:ext>
            </a:extLst>
          </p:cNvPr>
          <p:cNvSpPr/>
          <p:nvPr/>
        </p:nvSpPr>
        <p:spPr>
          <a:xfrm>
            <a:off x="9837825" y="219789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89189FA-AD33-40EE-851E-2A739F88432D}"/>
              </a:ext>
            </a:extLst>
          </p:cNvPr>
          <p:cNvSpPr/>
          <p:nvPr/>
        </p:nvSpPr>
        <p:spPr>
          <a:xfrm>
            <a:off x="33404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1C83D63F-8385-4E6B-86FE-9D170ABAA1EC}"/>
              </a:ext>
            </a:extLst>
          </p:cNvPr>
          <p:cNvSpPr/>
          <p:nvPr/>
        </p:nvSpPr>
        <p:spPr>
          <a:xfrm>
            <a:off x="274196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E9E58D-28F9-4907-B14D-702BC89E0D2D}"/>
              </a:ext>
            </a:extLst>
          </p:cNvPr>
          <p:cNvSpPr/>
          <p:nvPr/>
        </p:nvSpPr>
        <p:spPr>
          <a:xfrm>
            <a:off x="514988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528287CC-8160-4935-BE29-3E0C2EFD131E}"/>
              </a:ext>
            </a:extLst>
          </p:cNvPr>
          <p:cNvSpPr/>
          <p:nvPr/>
        </p:nvSpPr>
        <p:spPr>
          <a:xfrm>
            <a:off x="749385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860DA171-B883-43DE-9DF1-813670F217C4}"/>
              </a:ext>
            </a:extLst>
          </p:cNvPr>
          <p:cNvSpPr/>
          <p:nvPr/>
        </p:nvSpPr>
        <p:spPr>
          <a:xfrm>
            <a:off x="9837825" y="3393775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B34F7450-E909-4CB1-9238-35F57C7D404E}"/>
              </a:ext>
            </a:extLst>
          </p:cNvPr>
          <p:cNvSpPr txBox="1"/>
          <p:nvPr/>
        </p:nvSpPr>
        <p:spPr>
          <a:xfrm>
            <a:off x="264289" y="3407425"/>
            <a:ext cx="22040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de sala de controle (ajustam alimentação em tempo real), engenheiros de processo (analisam eficiência), supervisores de turno (coordenam operação).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C78EDE5-DCBC-4EFA-9027-E3E8B42B94E6}"/>
              </a:ext>
            </a:extLst>
          </p:cNvPr>
          <p:cNvSpPr txBox="1"/>
          <p:nvPr/>
        </p:nvSpPr>
        <p:spPr>
          <a:xfrm>
            <a:off x="2741965" y="3407425"/>
            <a:ext cx="21701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Moinho de bolas, hidrociclones, bombas de polpa, sistema PI (historiador de dados), telas de supervisório, sensores de potência, pressão, corrente e rotação.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0E44F95B-8DAF-442B-A286-60BD0C21BC1E}"/>
              </a:ext>
            </a:extLst>
          </p:cNvPr>
          <p:cNvSpPr txBox="1"/>
          <p:nvPr/>
        </p:nvSpPr>
        <p:spPr>
          <a:xfrm>
            <a:off x="5119431" y="3347953"/>
            <a:ext cx="21580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Usina de beneficiamento mineral, operação contínua 24h em turnos de revezamento (4x4). </a:t>
            </a:r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 de controle com múltiplas telas. Ambiente ruidoso e dinâmico.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5F5A3FA-60E2-489A-A232-46096468A7A9}"/>
              </a:ext>
            </a:extLst>
          </p:cNvPr>
          <p:cNvSpPr txBox="1"/>
          <p:nvPr/>
        </p:nvSpPr>
        <p:spPr>
          <a:xfrm>
            <a:off x="7455651" y="3379056"/>
            <a:ext cx="22040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Trocas verbais na passagem de turno sobre o comportamento do moinho. Alarmes do supervisório. </a:t>
            </a:r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Relatórios diários de produção com indicadores agregados.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C926DB9-83B8-44A1-AA7F-93A13959826B}"/>
              </a:ext>
            </a:extLst>
          </p:cNvPr>
          <p:cNvSpPr txBox="1"/>
          <p:nvPr/>
        </p:nvSpPr>
        <p:spPr>
          <a:xfrm>
            <a:off x="9767843" y="3538364"/>
            <a:ext cx="2246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Coleta automática de dados via PI System. Sistema de classificação de dureza por energia específica (C1-C6).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F0F12BE-BAB6-4951-B1C9-E52666D264FD}"/>
              </a:ext>
            </a:extLst>
          </p:cNvPr>
          <p:cNvSpPr txBox="1"/>
          <p:nvPr/>
        </p:nvSpPr>
        <p:spPr>
          <a:xfrm>
            <a:off x="1004737" y="5073163"/>
            <a:ext cx="49101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A operação do moinho de bolas depende de decisões contínuas dos operadores sobre a taxa de alimentação. Essas decisões são baseadas na experiência individual, sem suporte de classificação automática de regimes, gerando inconsistência entre turnos e perda de produtividade.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CE5FC69-D95D-4ACE-8439-8029C3DC0C23}"/>
              </a:ext>
            </a:extLst>
          </p:cNvPr>
          <p:cNvSpPr txBox="1"/>
          <p:nvPr/>
        </p:nvSpPr>
        <p:spPr>
          <a:xfrm>
            <a:off x="6817203" y="5104164"/>
            <a:ext cx="51268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Os dados de processo já são coletados continuamente (25 variáveis, ~840k registros em 19 meses), mas são subutilizados. Existe oportunidade de aplicar aprendizado de máquina para identificar regimes operacionais e fornecer suporte objetivo à tomada de decisão.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67EBAC-D88F-4CE6-A153-C7147FF38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073" y="1787522"/>
            <a:ext cx="847429" cy="21086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ECED083-94E9-46CC-9024-9808A25E9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1" y="1787522"/>
            <a:ext cx="839469" cy="19494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EB39891-AE61-48B2-BB45-7C35EA231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07" y="1795479"/>
            <a:ext cx="803662" cy="18699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5A7DBA3-2FE8-4994-96A2-BB865C7CA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546" y="1787522"/>
            <a:ext cx="990657" cy="21086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6DC6981-86C4-4B0F-9F95-8E58D9D20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568" y="1779564"/>
            <a:ext cx="990657" cy="21086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50FAEEA-5357-4981-A6DD-82271A5708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489" y="2352958"/>
            <a:ext cx="1843354" cy="68413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9CB706E-83F0-473B-9CDB-35910A91D0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506" y="2352958"/>
            <a:ext cx="1843356" cy="69363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FF6B132-2E81-4C09-81D8-5A7F99773F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880" y="2454456"/>
            <a:ext cx="1995386" cy="65562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51A9BBB-F1E9-4DA8-9F5D-24E73844E7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349" y="2454456"/>
            <a:ext cx="1843354" cy="65562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DD0EB3DA-0886-45CB-9D31-7DB3D2AF96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650" y="4912770"/>
            <a:ext cx="1418737" cy="320787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93D3FF8D-A351-4AF3-BDD7-226788CB62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1" y="4929305"/>
            <a:ext cx="1428659" cy="304252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C873B8D-01C4-466E-96D2-2AD03E8DF3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3" y="2318578"/>
            <a:ext cx="1868570" cy="841506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42" name="CaixaDeTexto 41"/>
          <p:cNvSpPr txBox="1"/>
          <p:nvPr/>
        </p:nvSpPr>
        <p:spPr>
          <a:xfrm>
            <a:off x="1591425" y="872904"/>
            <a:ext cx="5135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ANÁLISE DO CONTEXTO DO PROBLEMA - POEMS</a:t>
            </a:r>
          </a:p>
        </p:txBody>
      </p:sp>
    </p:spTree>
    <p:extLst>
      <p:ext uri="{BB962C8B-B14F-4D97-AF65-F5344CB8AC3E}">
        <p14:creationId xmlns:p14="http://schemas.microsoft.com/office/powerpoint/2010/main" val="178224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imagem é um slide de apresentação intitulado "ANÁLISE DO CONTEXTO DO PROBLEMA - POEMS" com um layout estruturado em várias seções organizadas em colunas. O fundo é preto e as colunas são destacadas com títulos em azul escuro e texto em branco.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Aqui está a descrição detalhada de cada seção: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"ANÁLISE DO CONTEXTO DO PROBLEMA - POEMS" está localizado na parte superior, centralizado.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As seções estão dispostas em colunas, cada uma com um título e um bloco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PESSOAS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"QUEM ESTÁ ENVOLVIDO NO CONTEXTO EM ANÁLISE?"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OBJETOS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 OBJETOS FAZEM PARTE DO AMBIENTE?"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AMBIENTE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"QUAIS SÃO AS CARACTERÍSTICAS DO AMBIENTE?"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MENSAGEM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"QUE MENSAGENS SÃO COMUNICADAS?"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SERVIÇOS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Título: "QUAIS SERVIÇOS SÃO OFERECIDOS?"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Abaixo das colunas, há duas seções adicionais em verde: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REGISTROS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labore et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dolore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ad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minim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quis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exercitation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labore et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dolore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magna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ad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minim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quis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exercitation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nisi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ut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organizar informações de forma clara e segmentada, facilitando a análise do contexto do problema.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9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DE34982-89EA-4FAC-9D0C-FC422090D6DB}"/>
              </a:ext>
            </a:extLst>
          </p:cNvPr>
          <p:cNvSpPr/>
          <p:nvPr/>
        </p:nvSpPr>
        <p:spPr>
          <a:xfrm>
            <a:off x="4679442" y="1717367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24191FF0-A8D3-4ECD-9ABF-F071A9D57F58}"/>
              </a:ext>
            </a:extLst>
          </p:cNvPr>
          <p:cNvSpPr/>
          <p:nvPr/>
        </p:nvSpPr>
        <p:spPr>
          <a:xfrm>
            <a:off x="427001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E86D7308-DA6C-4D53-8CBF-3274D76B36D8}"/>
              </a:ext>
            </a:extLst>
          </p:cNvPr>
          <p:cNvSpPr/>
          <p:nvPr/>
        </p:nvSpPr>
        <p:spPr>
          <a:xfrm>
            <a:off x="6959955" y="1717367"/>
            <a:ext cx="1414264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5128D25C-7759-41D7-A3B3-63B1C95CF46F}"/>
              </a:ext>
            </a:extLst>
          </p:cNvPr>
          <p:cNvSpPr/>
          <p:nvPr/>
        </p:nvSpPr>
        <p:spPr>
          <a:xfrm>
            <a:off x="661398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F79630B7-A3C3-42E0-BF4D-EAFB99CA0AE5}"/>
              </a:ext>
            </a:extLst>
          </p:cNvPr>
          <p:cNvSpPr/>
          <p:nvPr/>
        </p:nvSpPr>
        <p:spPr>
          <a:xfrm>
            <a:off x="9367382" y="1717367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5C570A04-2CF8-40EB-8EE0-D00145737B3D}"/>
              </a:ext>
            </a:extLst>
          </p:cNvPr>
          <p:cNvSpPr/>
          <p:nvPr/>
        </p:nvSpPr>
        <p:spPr>
          <a:xfrm>
            <a:off x="8957956" y="2429390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E9E58D-28F9-4907-B14D-702BC89E0D2D}"/>
              </a:ext>
            </a:extLst>
          </p:cNvPr>
          <p:cNvSpPr/>
          <p:nvPr/>
        </p:nvSpPr>
        <p:spPr>
          <a:xfrm>
            <a:off x="427001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528287CC-8160-4935-BE29-3E0C2EFD131E}"/>
              </a:ext>
            </a:extLst>
          </p:cNvPr>
          <p:cNvSpPr/>
          <p:nvPr/>
        </p:nvSpPr>
        <p:spPr>
          <a:xfrm>
            <a:off x="661398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860DA171-B883-43DE-9DF1-813670F217C4}"/>
              </a:ext>
            </a:extLst>
          </p:cNvPr>
          <p:cNvSpPr/>
          <p:nvPr/>
        </p:nvSpPr>
        <p:spPr>
          <a:xfrm>
            <a:off x="8957956" y="3625269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0E44F95B-8DAF-442B-A286-60BD0C21BC1E}"/>
              </a:ext>
            </a:extLst>
          </p:cNvPr>
          <p:cNvSpPr txBox="1"/>
          <p:nvPr/>
        </p:nvSpPr>
        <p:spPr>
          <a:xfrm>
            <a:off x="4281956" y="3670716"/>
            <a:ext cx="2106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moinho apresenta comportamentos distintos ao longo do tempo, observáveis nas variáveis de potência, alimentação e pressão.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65F5A3FA-60E2-489A-A232-46096468A7A9}"/>
              </a:ext>
            </a:extLst>
          </p:cNvPr>
          <p:cNvSpPr txBox="1"/>
          <p:nvPr/>
        </p:nvSpPr>
        <p:spPr>
          <a:xfrm>
            <a:off x="6717947" y="3701460"/>
            <a:ext cx="185155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regimes operacionais podem ser identificados automaticamente por algoritmos de clustering e classificação.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C926DB9-83B8-44A1-AA7F-93A13959826B}"/>
              </a:ext>
            </a:extLst>
          </p:cNvPr>
          <p:cNvSpPr txBox="1"/>
          <p:nvPr/>
        </p:nvSpPr>
        <p:spPr>
          <a:xfrm>
            <a:off x="9085276" y="3786100"/>
            <a:ext cx="1851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Quantos regimes distintos existem na prática? As classes de dureza do SAG correspondem a eles?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4E69BCC-12AD-4B00-9BCA-0F8E9DB25602}"/>
              </a:ext>
            </a:extLst>
          </p:cNvPr>
          <p:cNvSpPr/>
          <p:nvPr/>
        </p:nvSpPr>
        <p:spPr>
          <a:xfrm>
            <a:off x="6613986" y="494912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D216F71-1366-4B2B-92E8-0AF5AA862660}"/>
              </a:ext>
            </a:extLst>
          </p:cNvPr>
          <p:cNvSpPr txBox="1"/>
          <p:nvPr/>
        </p:nvSpPr>
        <p:spPr>
          <a:xfrm>
            <a:off x="6741307" y="5109957"/>
            <a:ext cx="1851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energia específica (kWh/t) é a variável mais discriminante para classificação de regimes.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0F895DA-C39E-4751-AE81-3FFCAFB7A0D0}"/>
              </a:ext>
            </a:extLst>
          </p:cNvPr>
          <p:cNvSpPr/>
          <p:nvPr/>
        </p:nvSpPr>
        <p:spPr>
          <a:xfrm>
            <a:off x="8957956" y="4952953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31410E0-E086-403D-BFA3-FD908D2D75D0}"/>
              </a:ext>
            </a:extLst>
          </p:cNvPr>
          <p:cNvSpPr txBox="1"/>
          <p:nvPr/>
        </p:nvSpPr>
        <p:spPr>
          <a:xfrm>
            <a:off x="9085276" y="5113784"/>
            <a:ext cx="1851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classificador mantém performance aceitável ao longo do tempo ou sofre degradação por drift?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85938EC-58CF-41EE-890C-D4C224503AA4}"/>
              </a:ext>
            </a:extLst>
          </p:cNvPr>
          <p:cNvSpPr/>
          <p:nvPr/>
        </p:nvSpPr>
        <p:spPr>
          <a:xfrm>
            <a:off x="4270016" y="4949126"/>
            <a:ext cx="2106200" cy="1058621"/>
          </a:xfrm>
          <a:prstGeom prst="roundRect">
            <a:avLst>
              <a:gd name="adj" fmla="val 8909"/>
            </a:avLst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BE7CB9D-7A4E-4CD2-BEF1-AAEEDDF0EF30}"/>
              </a:ext>
            </a:extLst>
          </p:cNvPr>
          <p:cNvSpPr txBox="1"/>
          <p:nvPr/>
        </p:nvSpPr>
        <p:spPr>
          <a:xfrm>
            <a:off x="4283970" y="5009076"/>
            <a:ext cx="207828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Existem limites operacionais definidos para potência (3200 kW), pressão de mancal (48 bar) e corrente de bombas (608 A).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1762B12-7783-4253-9008-29AD95E8B7AC}"/>
              </a:ext>
            </a:extLst>
          </p:cNvPr>
          <p:cNvSpPr/>
          <p:nvPr/>
        </p:nvSpPr>
        <p:spPr>
          <a:xfrm>
            <a:off x="2640936" y="2697429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D504FC1C-C0D7-48F5-9CC0-FF1D7D7D2032}"/>
              </a:ext>
            </a:extLst>
          </p:cNvPr>
          <p:cNvSpPr/>
          <p:nvPr/>
        </p:nvSpPr>
        <p:spPr>
          <a:xfrm>
            <a:off x="2640936" y="3907616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D4807951-B3BE-4D2C-9A0B-2D00EED1BFA4}"/>
              </a:ext>
            </a:extLst>
          </p:cNvPr>
          <p:cNvSpPr/>
          <p:nvPr/>
        </p:nvSpPr>
        <p:spPr>
          <a:xfrm>
            <a:off x="2640936" y="5155889"/>
            <a:ext cx="1287349" cy="438441"/>
          </a:xfrm>
          <a:prstGeom prst="roundRect">
            <a:avLst>
              <a:gd name="adj" fmla="val 8909"/>
            </a:avLst>
          </a:prstGeom>
          <a:solidFill>
            <a:srgbClr val="2B3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0CF8393-8B1B-45C8-9F89-FA551BE0399C}"/>
              </a:ext>
            </a:extLst>
          </p:cNvPr>
          <p:cNvSpPr txBox="1"/>
          <p:nvPr/>
        </p:nvSpPr>
        <p:spPr>
          <a:xfrm>
            <a:off x="4226535" y="2573979"/>
            <a:ext cx="2193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tomam decisões de alimentação com base em experiência individual, gerando variabilidade entre turnos.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8FDBA0A-F74B-42B7-8EA2-F118F0A83150}"/>
              </a:ext>
            </a:extLst>
          </p:cNvPr>
          <p:cNvSpPr txBox="1"/>
          <p:nvPr/>
        </p:nvSpPr>
        <p:spPr>
          <a:xfrm>
            <a:off x="6741307" y="2626328"/>
            <a:ext cx="1851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indicador automático de regime reduziria a inconsistência operacional e apoiaria a padronização.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4AD8E2-EC0A-409A-91A9-7824643EAD62}"/>
              </a:ext>
            </a:extLst>
          </p:cNvPr>
          <p:cNvSpPr txBox="1"/>
          <p:nvPr/>
        </p:nvSpPr>
        <p:spPr>
          <a:xfrm>
            <a:off x="9085276" y="2626328"/>
            <a:ext cx="1851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operadores adotariam efetivamente as recomendações de um sistema automatizado?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37E9980-5896-404A-B18D-88A095EAFE32}"/>
              </a:ext>
            </a:extLst>
          </p:cNvPr>
          <p:cNvSpPr/>
          <p:nvPr/>
        </p:nvSpPr>
        <p:spPr>
          <a:xfrm>
            <a:off x="825854" y="2429391"/>
            <a:ext cx="1473351" cy="3637496"/>
          </a:xfrm>
          <a:prstGeom prst="roundRect">
            <a:avLst>
              <a:gd name="adj" fmla="val 8909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1E7B49-DF41-40D8-A3BA-3AC026C4B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645" y="5260783"/>
            <a:ext cx="864919" cy="23723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C970452-6FC9-45A1-A7B1-335F3D4CC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645" y="1818015"/>
            <a:ext cx="1037902" cy="23723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F199B5-AF14-4058-B0B8-F8D6BB343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75" y="1813073"/>
            <a:ext cx="1334444" cy="24711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CA5CCE0-4013-4B24-AA79-19985F43D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937" y="1813073"/>
            <a:ext cx="899515" cy="24217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F190FC7-AD7C-4153-A1B8-92DA1B122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810" y="2796487"/>
            <a:ext cx="899516" cy="23723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892B9B6-015B-436C-93EB-AAF57046F9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711" y="4018663"/>
            <a:ext cx="1102154" cy="271832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5D9CDE3F-1D45-49CA-90DB-7D1BCEB2C3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0915" y="3941854"/>
            <a:ext cx="2759720" cy="612570"/>
          </a:xfrm>
          <a:prstGeom prst="rect">
            <a:avLst/>
          </a:prstGeom>
        </p:spPr>
      </p:pic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36" name="CaixaDeTexto 35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MODELO DE MATRIZ - CSD</a:t>
            </a:r>
          </a:p>
        </p:txBody>
      </p:sp>
    </p:spTree>
    <p:extLst>
      <p:ext uri="{BB962C8B-B14F-4D97-AF65-F5344CB8AC3E}">
        <p14:creationId xmlns:p14="http://schemas.microsoft.com/office/powerpoint/2010/main" val="296268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imagem é um slide de apresentação intitulado "MODELO DE MATRIZ - CSD" com um layout estruturado em linhas e colunas. O fundo é preto e as seções são destacadas com títulos em azul e blocos de texto em verde.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"MODELO DE MATRIZ - CSD"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A estrutura da matriz é composta por três colunas principais, cada uma com um título no topo: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CERTEZAS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SUPOSIÇÕES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DÚVIDAS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Há uma coluna à esquerda intitulada "DIFERENTES ÓTICAS DE ANÁLISE" com três seções: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ATORES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CENÁRIOS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REGRAS</a:t>
            </a:r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Cada uma dessas seções tem três linhas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 que são verdes com o texto branco: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ATORES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CENÁRIOS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Na linha </a:t>
            </a: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REGRAS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CERTEZAS: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SUPOSIÇÕES: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 sob DÚVIDAS: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organizar informações de forma clara, facilitando a análise de diferentes perspectivas (atores, cenários, regras) em relação a certezas, suposições e dúvidas.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231B05C3-8BE7-42E4-9796-865357587FAA}"/>
              </a:ext>
            </a:extLst>
          </p:cNvPr>
          <p:cNvSpPr/>
          <p:nvPr/>
        </p:nvSpPr>
        <p:spPr>
          <a:xfrm>
            <a:off x="2750220" y="3428597"/>
            <a:ext cx="6691563" cy="2051306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18AD9110-3F21-419B-9810-21C1C4B6E8A1}"/>
              </a:ext>
            </a:extLst>
          </p:cNvPr>
          <p:cNvSpPr/>
          <p:nvPr/>
        </p:nvSpPr>
        <p:spPr>
          <a:xfrm rot="10800000">
            <a:off x="2750220" y="1378098"/>
            <a:ext cx="6691563" cy="2051306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030C196C-F0B8-41A9-99BB-D4CC149322F4}"/>
              </a:ext>
            </a:extLst>
          </p:cNvPr>
          <p:cNvSpPr/>
          <p:nvPr/>
        </p:nvSpPr>
        <p:spPr>
          <a:xfrm rot="16200000">
            <a:off x="5717989" y="1756108"/>
            <a:ext cx="4101806" cy="3345782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8CBEE86D-E1AC-4494-A247-D376957AE4FE}"/>
              </a:ext>
            </a:extLst>
          </p:cNvPr>
          <p:cNvSpPr/>
          <p:nvPr/>
        </p:nvSpPr>
        <p:spPr>
          <a:xfrm rot="5400000">
            <a:off x="2372204" y="1756108"/>
            <a:ext cx="4101806" cy="3345782"/>
          </a:xfrm>
          <a:prstGeom prst="triangle">
            <a:avLst/>
          </a:prstGeom>
          <a:solidFill>
            <a:srgbClr val="00A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B7FD92-3178-4C78-8AC1-3DF25B9DC193}"/>
              </a:ext>
            </a:extLst>
          </p:cNvPr>
          <p:cNvSpPr txBox="1"/>
          <p:nvPr/>
        </p:nvSpPr>
        <p:spPr>
          <a:xfrm>
            <a:off x="4843486" y="1817008"/>
            <a:ext cx="249592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Preocupação em não sobrecarregar o moinho. Pressão por produtividade mas prioriza segurança. Insegurança em turnos noturnos. Gostaria de ter referência objetiva.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FD7062B-88C8-4560-AE2D-9335EA3C7E7A}"/>
              </a:ext>
            </a:extLst>
          </p:cNvPr>
          <p:cNvSpPr txBox="1"/>
          <p:nvPr/>
        </p:nvSpPr>
        <p:spPr>
          <a:xfrm>
            <a:off x="5047065" y="3990355"/>
            <a:ext cx="20887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Ajusta alimentação com base na experiência: se potência sobe, reduz. Comunica verbalmente na troca de turno como o moinho está se comportando.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D44140-2AE0-42CE-B6DD-BD28C615D21A}"/>
              </a:ext>
            </a:extLst>
          </p:cNvPr>
          <p:cNvSpPr txBox="1"/>
          <p:nvPr/>
        </p:nvSpPr>
        <p:spPr>
          <a:xfrm>
            <a:off x="6740348" y="2893791"/>
            <a:ext cx="2286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Telas com gráficos de tendência e valores numéricos. Diferenças de </a:t>
            </a:r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comportamento</a:t>
            </a:r>
            <a:r>
              <a:rPr lang="pt-B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 turnos. Percebe que o minério muda, mas sem medição objetiva.</a:t>
            </a:r>
            <a:endParaRPr lang="pt-BR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D24FA9A-7BE2-4EAE-86F2-DA95DE0637B4}"/>
              </a:ext>
            </a:extLst>
          </p:cNvPr>
          <p:cNvSpPr txBox="1"/>
          <p:nvPr/>
        </p:nvSpPr>
        <p:spPr>
          <a:xfrm>
            <a:off x="3165542" y="2709310"/>
            <a:ext cx="184514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Supervisão pedindo manter produção alta. Engenharia alertando sobre limites. Colegas dizendo que o minério está mais duro sem dado concreto.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52E6003-FDB5-4245-979A-119794156C1E}"/>
              </a:ext>
            </a:extLst>
          </p:cNvPr>
          <p:cNvSpPr/>
          <p:nvPr/>
        </p:nvSpPr>
        <p:spPr>
          <a:xfrm>
            <a:off x="2745660" y="5471446"/>
            <a:ext cx="3380819" cy="937549"/>
          </a:xfrm>
          <a:prstGeom prst="rect">
            <a:avLst/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CA9C812-5FE5-45A0-A977-3A158A01F3F3}"/>
              </a:ext>
            </a:extLst>
          </p:cNvPr>
          <p:cNvSpPr/>
          <p:nvPr/>
        </p:nvSpPr>
        <p:spPr>
          <a:xfrm>
            <a:off x="6095998" y="5471446"/>
            <a:ext cx="3350340" cy="937549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7F8B34-5C53-4728-BF66-490B22DE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737" y="5506021"/>
            <a:ext cx="714664" cy="23822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75E017B-E7E0-4CC7-950F-E5DAB8B7E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708" y="5501336"/>
            <a:ext cx="888367" cy="233259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A7060B-94C7-4A1E-A5F6-FAB6D21AEE45}"/>
              </a:ext>
            </a:extLst>
          </p:cNvPr>
          <p:cNvSpPr txBox="1"/>
          <p:nvPr/>
        </p:nvSpPr>
        <p:spPr>
          <a:xfrm>
            <a:off x="2745661" y="5691899"/>
            <a:ext cx="3380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indicador claro de regime operacional. Decisões baseadas em intuição. Medo de causar parada por sobrecarga. Falta de padronização entre turnos.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F5D38D-F2B8-498A-8014-6DA08A73410A}"/>
              </a:ext>
            </a:extLst>
          </p:cNvPr>
          <p:cNvSpPr txBox="1"/>
          <p:nvPr/>
        </p:nvSpPr>
        <p:spPr>
          <a:xfrm>
            <a:off x="6091443" y="5687075"/>
            <a:ext cx="3350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que indique automaticamente o regime atual. </a:t>
            </a:r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 objetiva em tempo real. Padronização que reduza dependência da experiência individual.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B261ED0-3CA7-4A87-B6C4-DD5213EE9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83" y="5078384"/>
            <a:ext cx="1669618" cy="261198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DDA2F2D-A7D8-4392-A8CC-AB0824595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01370" y="3291144"/>
            <a:ext cx="590185" cy="26725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1F56FC2F-1907-435D-B604-D3788F920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024" y="1518418"/>
            <a:ext cx="1993263" cy="28395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F7050B8-B760-4002-8685-A3EE9ABE19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61251" y="3266641"/>
            <a:ext cx="868573" cy="267254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591426" y="872904"/>
            <a:ext cx="359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MAPA DE EMPATIA</a:t>
            </a:r>
          </a:p>
        </p:txBody>
      </p:sp>
    </p:spTree>
    <p:extLst>
      <p:ext uri="{BB962C8B-B14F-4D97-AF65-F5344CB8AC3E}">
        <p14:creationId xmlns:p14="http://schemas.microsoft.com/office/powerpoint/2010/main" val="273673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imagem é um slide de apresentação intitulado "MAPA DE EMPATIA" com um layout organizado em várias seções. O fundo é preto e as áreas de texto são destacadas com cores diferentes.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principal "MAPA DE EMPATIA"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mapa de empatia está dividido em várias seções, cada uma com um título e blocos de texto de exemplo em latim (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Ipsum):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PENSAR E SENTIR?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superior central.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OUVIR?: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esquerda.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VER?: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direita.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FALAR E FAZER?: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central.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esquerda, em um bloco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GANHOS: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 direita, em um bloco azul.</a:t>
            </a:r>
          </a:p>
          <a:p>
            <a:pPr lvl="1"/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layout é projetado para capturar diferentes aspectos da experiência e percepções de um usuário, facilitando a análise de suas necessidades e sentimentos. Cada seção está bem delimitada e colorida para facilitar a visualização e organização das informações.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7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4B5075A-8B9D-4843-998E-22662A507F92}"/>
              </a:ext>
            </a:extLst>
          </p:cNvPr>
          <p:cNvSpPr/>
          <p:nvPr/>
        </p:nvSpPr>
        <p:spPr>
          <a:xfrm>
            <a:off x="1340880" y="1768962"/>
            <a:ext cx="4492035" cy="4492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F836B184-DD6F-4A82-8F96-0CC03880E339}"/>
              </a:ext>
            </a:extLst>
          </p:cNvPr>
          <p:cNvSpPr/>
          <p:nvPr/>
        </p:nvSpPr>
        <p:spPr>
          <a:xfrm rot="5400000">
            <a:off x="374214" y="2735630"/>
            <a:ext cx="4492034" cy="2558703"/>
          </a:xfrm>
          <a:prstGeom prst="triangle">
            <a:avLst/>
          </a:prstGeom>
          <a:solidFill>
            <a:srgbClr val="1B7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2B577C58-E175-4830-BE6A-FD5815C4D4EB}"/>
              </a:ext>
            </a:extLst>
          </p:cNvPr>
          <p:cNvSpPr/>
          <p:nvPr/>
        </p:nvSpPr>
        <p:spPr>
          <a:xfrm rot="10800000">
            <a:off x="1340881" y="1768962"/>
            <a:ext cx="4492034" cy="3955393"/>
          </a:xfrm>
          <a:prstGeom prst="triangle">
            <a:avLst>
              <a:gd name="adj" fmla="val 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89AE0FD7-9F41-42BC-8624-0B4B9139C153}"/>
              </a:ext>
            </a:extLst>
          </p:cNvPr>
          <p:cNvSpPr/>
          <p:nvPr/>
        </p:nvSpPr>
        <p:spPr>
          <a:xfrm rot="10800000" flipV="1">
            <a:off x="1340881" y="2298511"/>
            <a:ext cx="4492034" cy="3955393"/>
          </a:xfrm>
          <a:prstGeom prst="triangle">
            <a:avLst>
              <a:gd name="adj" fmla="val 0"/>
            </a:avLst>
          </a:prstGeom>
          <a:solidFill>
            <a:srgbClr val="00A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F10B1E1-A05B-46D0-8C02-F1F03D62EDBB}"/>
              </a:ext>
            </a:extLst>
          </p:cNvPr>
          <p:cNvCxnSpPr/>
          <p:nvPr/>
        </p:nvCxnSpPr>
        <p:spPr>
          <a:xfrm>
            <a:off x="3586897" y="3982975"/>
            <a:ext cx="2246017" cy="0"/>
          </a:xfrm>
          <a:prstGeom prst="line">
            <a:avLst/>
          </a:prstGeom>
          <a:ln w="38100">
            <a:solidFill>
              <a:srgbClr val="1B75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968696A-40EE-4D77-90F1-E14DB416B40F}"/>
              </a:ext>
            </a:extLst>
          </p:cNvPr>
          <p:cNvSpPr/>
          <p:nvPr/>
        </p:nvSpPr>
        <p:spPr>
          <a:xfrm>
            <a:off x="3083977" y="3438356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54599CC-C5BB-4982-A84A-B21F24BB69B0}"/>
              </a:ext>
            </a:extLst>
          </p:cNvPr>
          <p:cNvSpPr/>
          <p:nvPr/>
        </p:nvSpPr>
        <p:spPr>
          <a:xfrm>
            <a:off x="6750995" y="1704512"/>
            <a:ext cx="4473528" cy="4473528"/>
          </a:xfrm>
          <a:prstGeom prst="ellipse">
            <a:avLst/>
          </a:prstGeom>
          <a:solidFill>
            <a:srgbClr val="33B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A421B12-937F-4E2A-91C5-73217B6DD62B}"/>
              </a:ext>
            </a:extLst>
          </p:cNvPr>
          <p:cNvSpPr/>
          <p:nvPr/>
        </p:nvSpPr>
        <p:spPr>
          <a:xfrm>
            <a:off x="8490335" y="3438356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9539230-912E-432A-94D8-8354C2ACA9D3}"/>
              </a:ext>
            </a:extLst>
          </p:cNvPr>
          <p:cNvCxnSpPr>
            <a:cxnSpLocks/>
            <a:endCxn id="11" idx="5"/>
          </p:cNvCxnSpPr>
          <p:nvPr/>
        </p:nvCxnSpPr>
        <p:spPr>
          <a:xfrm>
            <a:off x="8954993" y="3981112"/>
            <a:ext cx="1614397" cy="1541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375A626-1CBB-4E86-BDE7-490FFA0C8D3E}"/>
              </a:ext>
            </a:extLst>
          </p:cNvPr>
          <p:cNvCxnSpPr>
            <a:cxnSpLocks/>
            <a:endCxn id="11" idx="7"/>
          </p:cNvCxnSpPr>
          <p:nvPr/>
        </p:nvCxnSpPr>
        <p:spPr>
          <a:xfrm flipV="1">
            <a:off x="8987759" y="2359645"/>
            <a:ext cx="1581631" cy="154179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908CAFB-8881-444A-B04B-965ED5C75C37}"/>
              </a:ext>
            </a:extLst>
          </p:cNvPr>
          <p:cNvCxnSpPr/>
          <p:nvPr/>
        </p:nvCxnSpPr>
        <p:spPr>
          <a:xfrm>
            <a:off x="6750995" y="3941276"/>
            <a:ext cx="224601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3CFC592-28EC-404E-AD49-1B164CC78361}"/>
              </a:ext>
            </a:extLst>
          </p:cNvPr>
          <p:cNvSpPr txBox="1"/>
          <p:nvPr/>
        </p:nvSpPr>
        <p:spPr>
          <a:xfrm>
            <a:off x="4005548" y="2102494"/>
            <a:ext cx="17469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da faixa segura de operação por regime, permitindo operar mais próximo da capacidade real. Análise SHAP para entender quais variáveis mais influenciam cada regime.</a:t>
            </a:r>
            <a:endParaRPr lang="pt-B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F3C9364-FE42-4A8F-B0A1-49F06D67CF30}"/>
              </a:ext>
            </a:extLst>
          </p:cNvPr>
          <p:cNvSpPr txBox="1"/>
          <p:nvPr/>
        </p:nvSpPr>
        <p:spPr>
          <a:xfrm>
            <a:off x="3987076" y="4328474"/>
            <a:ext cx="17256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automática do regime a cada instante, fornecendo referência objetiva para ajuste de alimentação. Padronização da operação entre turnos.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77D591-BC50-44A4-A5B1-5E21A6D793B5}"/>
              </a:ext>
            </a:extLst>
          </p:cNvPr>
          <p:cNvSpPr txBox="1"/>
          <p:nvPr/>
        </p:nvSpPr>
        <p:spPr>
          <a:xfrm>
            <a:off x="1340878" y="3826619"/>
            <a:ext cx="168434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 de classificação de regimes operacionais baseado em aprendizado de máquina.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C87CB2B-EB85-4483-B470-A10C3DB65FE7}"/>
              </a:ext>
            </a:extLst>
          </p:cNvPr>
          <p:cNvSpPr txBox="1"/>
          <p:nvPr/>
        </p:nvSpPr>
        <p:spPr>
          <a:xfrm>
            <a:off x="7306502" y="2340711"/>
            <a:ext cx="181679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Operação padronizada, proativa e baseada em dados. Maior throughput médio. Menor risco de violação de limites. Evidências quantitativas para decisão.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6309B41-D50D-4FD5-AC0C-038A7E1421F9}"/>
              </a:ext>
            </a:extLst>
          </p:cNvPr>
          <p:cNvSpPr txBox="1"/>
          <p:nvPr/>
        </p:nvSpPr>
        <p:spPr>
          <a:xfrm>
            <a:off x="7747062" y="4616360"/>
            <a:ext cx="18167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Ausência de indicação objetiva do regime corrente. Decisões reativas e inconsistentes entre turnos. Dados subutilizados.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970A53D-B1B5-4ABA-A910-9E387E050DA3}"/>
              </a:ext>
            </a:extLst>
          </p:cNvPr>
          <p:cNvSpPr txBox="1"/>
          <p:nvPr/>
        </p:nvSpPr>
        <p:spPr>
          <a:xfrm>
            <a:off x="9757460" y="3505175"/>
            <a:ext cx="13862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Ajustar a taxa de alimentação do moinho para maximizar produtividade dentro dos limites operacionais de segurança.</a:t>
            </a:r>
            <a:endParaRPr lang="pt-BR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5C2F0A-C9F6-4A26-86DB-58E1D218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3275088"/>
            <a:ext cx="1077526" cy="55153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1F774FB-1AD0-4E6A-A946-5E1500DFD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964" y="2250561"/>
            <a:ext cx="1077526" cy="551531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B684CC73-DC06-4155-A63F-3062CAB7D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959" y="5306717"/>
            <a:ext cx="1077527" cy="255338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DCD9F79-B189-4B14-9A44-24169A5C55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96" y="2102494"/>
            <a:ext cx="934540" cy="275766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946E3BDC-7896-455A-9E40-1DE56C0A3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444" y="4278744"/>
            <a:ext cx="750695" cy="2451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61BD3F7-CF1F-498A-82F4-559F8AB226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573" y="3285148"/>
            <a:ext cx="968512" cy="265649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5" t="9132" r="10817" b="14689"/>
          <a:stretch/>
        </p:blipFill>
        <p:spPr>
          <a:xfrm>
            <a:off x="769405" y="775258"/>
            <a:ext cx="841327" cy="497756"/>
          </a:xfrm>
          <a:prstGeom prst="rect">
            <a:avLst/>
          </a:prstGeom>
        </p:spPr>
      </p:pic>
      <p:sp>
        <p:nvSpPr>
          <p:cNvPr id="28" name="CaixaDeTexto 27"/>
          <p:cNvSpPr txBox="1"/>
          <p:nvPr/>
        </p:nvSpPr>
        <p:spPr>
          <a:xfrm>
            <a:off x="1591426" y="872904"/>
            <a:ext cx="4671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EXPLICAÇÃO DE PROPOSIÇÃO DE VALOR</a:t>
            </a:r>
          </a:p>
        </p:txBody>
      </p:sp>
    </p:spTree>
    <p:extLst>
      <p:ext uri="{BB962C8B-B14F-4D97-AF65-F5344CB8AC3E}">
        <p14:creationId xmlns:p14="http://schemas.microsoft.com/office/powerpoint/2010/main" val="3040930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33137" y="272716"/>
            <a:ext cx="1121343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Descrição do Slide anterior: A imagem é um slide de apresentação intitulado "EXPLICAÇÃO DE PROPOSIÇÃO DE VALOR" com dois gráficos coloridos sobre um fundo preto. Aqui está a descrição detalhada: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No canto superior esquerdo, há o logotipo da XPE.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título "EXPLICAÇÃO DE PROPOSIÇÃO DE VALOR" está localizado na parte superior esquerda.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O slide apresenta dois gráficos principais, um à esquerda e outro à direita:</a:t>
            </a:r>
          </a:p>
          <a:p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Gráfico à Esquerda: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Este gráfico é um quadrado dividido em três seções triangulares com um círculo branco no centro. As seções são organizadas da seguinte forma: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CRIADOR DE GANHO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no topo.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verde-água.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PRODUTO/SERVIÇO: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esquerda.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azul.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REMÉDIOS: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verde-água.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Gráfico à Direita: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Este gráfico é um círculo dividido em três seções com um círculo branco no centro. As seções são organizadas da seguinte forma: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GANHOS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no topo.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TAREFAS: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à direita.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b="1" dirty="0">
                <a:latin typeface="Calibri" panose="020F0502020204030204" pitchFamily="34" charset="0"/>
                <a:cs typeface="Calibri" panose="020F0502020204030204" pitchFamily="34" charset="0"/>
              </a:rPr>
              <a:t>DORES: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Localizado na parte inferior.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Fundo verde.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Texto de exemplo: "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ipsum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dolor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sed</a:t>
            </a:r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 do."</a:t>
            </a:r>
          </a:p>
          <a:p>
            <a:r>
              <a:rPr lang="pt-BR" sz="1200" dirty="0">
                <a:latin typeface="Calibri" panose="020F0502020204030204" pitchFamily="34" charset="0"/>
                <a:cs typeface="Calibri" panose="020F0502020204030204" pitchFamily="34" charset="0"/>
              </a:rPr>
              <a:t>Esses gráficos são projetados para ilustrar a proposta de valor de um produto ou serviço, destacando seus benefícios, características principais, e como ele aborda as necessidades e problemas dos clientes.</a:t>
            </a:r>
          </a:p>
          <a:p>
            <a:endParaRPr lang="pt-B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8764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IGTI_Theme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IGTI_Theme" id="{BA9E1954-4A8D-4DA4-B3C0-94FCD455AEEF}" vid="{95686351-BEE9-406A-B673-A124A2782D38}"/>
    </a:ext>
  </a:extLst>
</a:theme>
</file>

<file path=ppt/theme/theme2.xml><?xml version="1.0" encoding="utf-8"?>
<a:theme xmlns:a="http://schemas.openxmlformats.org/drawingml/2006/main" name="Introdução/Nesta Aula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údo">
  <a:themeElements>
    <a:clrScheme name="IGTI">
      <a:dk1>
        <a:srgbClr val="353F40"/>
      </a:dk1>
      <a:lt1>
        <a:sysClr val="window" lastClr="FFFFFF"/>
      </a:lt1>
      <a:dk2>
        <a:srgbClr val="003C58"/>
      </a:dk2>
      <a:lt2>
        <a:srgbClr val="F3FBFB"/>
      </a:lt2>
      <a:accent1>
        <a:srgbClr val="00BDB3"/>
      </a:accent1>
      <a:accent2>
        <a:srgbClr val="6B48FF"/>
      </a:accent2>
      <a:accent3>
        <a:srgbClr val="6B7480"/>
      </a:accent3>
      <a:accent4>
        <a:srgbClr val="FFA500"/>
      </a:accent4>
      <a:accent5>
        <a:srgbClr val="007285"/>
      </a:accent5>
      <a:accent6>
        <a:srgbClr val="1975FF"/>
      </a:accent6>
      <a:hlink>
        <a:srgbClr val="6B48FF"/>
      </a:hlink>
      <a:folHlink>
        <a:srgbClr val="6B48FF"/>
      </a:folHlink>
    </a:clrScheme>
    <a:fontScheme name="Personalizada 2">
      <a:majorFont>
        <a:latin typeface="Nunito Sans SemiBold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PowerPoint_IGTI_Theme</Template>
  <TotalTime>1608</TotalTime>
  <Words>2678</Words>
  <Application>Microsoft Office PowerPoint</Application>
  <PresentationFormat>Widescreen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Nunito Sans</vt:lpstr>
      <vt:lpstr>Nunito Sans SemiBold</vt:lpstr>
      <vt:lpstr>PowerPoint_IGTI_Theme</vt:lpstr>
      <vt:lpstr>Introdução/Nesta Aula</vt:lpstr>
      <vt:lpstr>Conteúdo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Felipe Silva Amaral</dc:creator>
  <cp:lastModifiedBy>Tarcizo Moreira Junior</cp:lastModifiedBy>
  <cp:revision>74</cp:revision>
  <dcterms:created xsi:type="dcterms:W3CDTF">2020-02-28T17:01:50Z</dcterms:created>
  <dcterms:modified xsi:type="dcterms:W3CDTF">2026-03-10T01:16:58Z</dcterms:modified>
</cp:coreProperties>
</file>